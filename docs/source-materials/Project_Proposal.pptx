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Lora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huFliaZcJ+fyk/5/ENlFtzjCdX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ora-boldItalic.fntdata"/><Relationship Id="rId16" Type="http://schemas.openxmlformats.org/officeDocument/2006/relationships/font" Target="fonts/Lor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345C"/>
            </a:gs>
            <a:gs pos="100000">
              <a:srgbClr val="284B70"/>
            </a:gs>
          </a:gsLst>
          <a:lin ang="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1354588" y="3019895"/>
            <a:ext cx="7269775" cy="7269775"/>
          </a:xfrm>
          <a:custGeom>
            <a:rect b="b" l="l" r="r" t="t"/>
            <a:pathLst>
              <a:path extrusionOk="0" h="7269775" w="7269775">
                <a:moveTo>
                  <a:pt x="0" y="0"/>
                </a:moveTo>
                <a:lnTo>
                  <a:pt x="7269775" y="0"/>
                </a:lnTo>
                <a:lnTo>
                  <a:pt x="7269775" y="7269775"/>
                </a:lnTo>
                <a:lnTo>
                  <a:pt x="0" y="726977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" name="Google Shape;85;p1"/>
          <p:cNvGrpSpPr/>
          <p:nvPr/>
        </p:nvGrpSpPr>
        <p:grpSpPr>
          <a:xfrm>
            <a:off x="-62" y="9194987"/>
            <a:ext cx="18288122" cy="2144284"/>
            <a:chOff x="0" y="-28575"/>
            <a:chExt cx="4816593" cy="564746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4816592" cy="536171"/>
            </a:xfrm>
            <a:custGeom>
              <a:rect b="b" l="l" r="r" t="t"/>
              <a:pathLst>
                <a:path extrusionOk="0" h="5361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36171"/>
                  </a:lnTo>
                  <a:lnTo>
                    <a:pt x="0" y="536171"/>
                  </a:lnTo>
                  <a:close/>
                </a:path>
              </a:pathLst>
            </a:custGeom>
            <a:solidFill>
              <a:srgbClr val="61B4B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"/>
            <p:cNvSpPr txBox="1"/>
            <p:nvPr/>
          </p:nvSpPr>
          <p:spPr>
            <a:xfrm>
              <a:off x="0" y="-28575"/>
              <a:ext cx="4816593" cy="5647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"/>
          <p:cNvGrpSpPr/>
          <p:nvPr/>
        </p:nvGrpSpPr>
        <p:grpSpPr>
          <a:xfrm>
            <a:off x="5015828" y="6890885"/>
            <a:ext cx="984546" cy="984546"/>
            <a:chOff x="0" y="0"/>
            <a:chExt cx="812800" cy="812800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9BC8D3"/>
                </a:gs>
                <a:gs pos="100000">
                  <a:srgbClr val="61B4BE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1"/>
          <p:cNvSpPr txBox="1"/>
          <p:nvPr/>
        </p:nvSpPr>
        <p:spPr>
          <a:xfrm>
            <a:off x="252450" y="4436450"/>
            <a:ext cx="7691400" cy="49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Presented By</a:t>
            </a:r>
            <a:endParaRPr/>
          </a:p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999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Md. </a:t>
            </a:r>
            <a:r>
              <a:rPr lang="en-US" sz="39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Osman Goni-23101012</a:t>
            </a:r>
            <a:endParaRPr/>
          </a:p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Aeysha Tabassum-23101014</a:t>
            </a:r>
            <a:endParaRPr/>
          </a:p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Arannamoy Mondal-23101024</a:t>
            </a:r>
            <a:endParaRPr/>
          </a:p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Fabia Akter Borsha-23101025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1605450" y="4171950"/>
            <a:ext cx="5838900" cy="40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Supervised By</a:t>
            </a:r>
            <a:endParaRPr/>
          </a:p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999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K</a:t>
            </a:r>
            <a:r>
              <a:rPr lang="en-US" sz="39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hadiza Sultana Sayma</a:t>
            </a:r>
            <a:endParaRPr/>
          </a:p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Lecturer </a:t>
            </a:r>
            <a:endParaRPr/>
          </a:p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University of Asia Pacific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877738" y="943409"/>
            <a:ext cx="16718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Multifunctional Fireguard Bot </a:t>
            </a:r>
            <a:endParaRPr/>
          </a:p>
        </p:txBody>
      </p:sp>
      <p:sp>
        <p:nvSpPr>
          <p:cNvPr id="94" name="Google Shape;94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16993850" y="9300159"/>
            <a:ext cx="1294200" cy="1094700"/>
          </a:xfrm>
          <a:prstGeom prst="rect">
            <a:avLst/>
          </a:prstGeom>
          <a:solidFill>
            <a:srgbClr val="61B4B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61B4B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highlight>
                  <a:srgbClr val="61B4BE"/>
                </a:highlight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3000">
              <a:highlight>
                <a:srgbClr val="61B4BE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345C"/>
            </a:gs>
            <a:gs pos="100000">
              <a:srgbClr val="284B70"/>
            </a:gs>
          </a:gsLst>
          <a:lin ang="0" scaled="0"/>
        </a:gra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2"/>
          <p:cNvGrpSpPr/>
          <p:nvPr/>
        </p:nvGrpSpPr>
        <p:grpSpPr>
          <a:xfrm rot="10800000">
            <a:off x="17080839" y="0"/>
            <a:ext cx="2839705" cy="10395496"/>
            <a:chOff x="0" y="-28575"/>
            <a:chExt cx="747906" cy="2737908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747906" cy="2709333"/>
            </a:xfrm>
            <a:custGeom>
              <a:rect b="b" l="l" r="r" t="t"/>
              <a:pathLst>
                <a:path extrusionOk="0" h="2709333" w="747906">
                  <a:moveTo>
                    <a:pt x="0" y="0"/>
                  </a:moveTo>
                  <a:lnTo>
                    <a:pt x="747906" y="0"/>
                  </a:lnTo>
                  <a:lnTo>
                    <a:pt x="747906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9BC8D3"/>
                </a:gs>
                <a:gs pos="100000">
                  <a:srgbClr val="61B4BE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0" y="-28575"/>
              <a:ext cx="747906" cy="2737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" name="Google Shape;103;p2"/>
          <p:cNvSpPr/>
          <p:nvPr/>
        </p:nvSpPr>
        <p:spPr>
          <a:xfrm flipH="1">
            <a:off x="0" y="3017225"/>
            <a:ext cx="7269775" cy="7269775"/>
          </a:xfrm>
          <a:custGeom>
            <a:rect b="b" l="l" r="r" t="t"/>
            <a:pathLst>
              <a:path extrusionOk="0" h="7269775" w="7269775">
                <a:moveTo>
                  <a:pt x="7269775" y="0"/>
                </a:moveTo>
                <a:lnTo>
                  <a:pt x="0" y="0"/>
                </a:lnTo>
                <a:lnTo>
                  <a:pt x="0" y="7269775"/>
                </a:lnTo>
                <a:lnTo>
                  <a:pt x="7269775" y="7269775"/>
                </a:lnTo>
                <a:lnTo>
                  <a:pt x="7269775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905608" y="419417"/>
            <a:ext cx="16476785" cy="1094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INTRODUCTION/PROBLEM STATEMENT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905600" y="2593900"/>
            <a:ext cx="15821400" cy="51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>
                <a:solidFill>
                  <a:schemeClr val="lt1"/>
                </a:solidFill>
              </a:rPr>
              <a:t>Fire accidents lead to huge loss of life and property due to delayed detection and human dependency.</a:t>
            </a:r>
            <a:endParaRPr sz="3700">
              <a:solidFill>
                <a:schemeClr val="lt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>
                <a:solidFill>
                  <a:schemeClr val="lt1"/>
                </a:solidFill>
              </a:rPr>
              <a:t>Most existing robots are limited to single functions. </a:t>
            </a:r>
            <a:r>
              <a:rPr b="1" lang="en-US" sz="3700">
                <a:solidFill>
                  <a:schemeClr val="lt1"/>
                </a:solidFill>
              </a:rPr>
              <a:t>Multifunctional Fireguard Bot</a:t>
            </a:r>
            <a:r>
              <a:rPr lang="en-US" sz="3700">
                <a:solidFill>
                  <a:schemeClr val="lt1"/>
                </a:solidFill>
              </a:rPr>
              <a:t> is designed as an affordable, smart solution that combines </a:t>
            </a:r>
            <a:r>
              <a:rPr b="1" lang="en-US" sz="3700">
                <a:solidFill>
                  <a:schemeClr val="lt1"/>
                </a:solidFill>
              </a:rPr>
              <a:t>Line Following, Fire Detection, Wireless Control, and AI Obstacle Avoidance</a:t>
            </a:r>
            <a:r>
              <a:rPr lang="en-US" sz="3700">
                <a:solidFill>
                  <a:schemeClr val="lt1"/>
                </a:solidFill>
              </a:rPr>
              <a:t> into one platform for enhanced safety.</a:t>
            </a:r>
            <a:endParaRPr sz="3700">
              <a:solidFill>
                <a:schemeClr val="lt1"/>
              </a:solidFill>
            </a:endParaRPr>
          </a:p>
          <a:p>
            <a:pPr indent="0" lvl="0" marL="457200" marR="0" rtl="0" algn="just">
              <a:lnSpc>
                <a:spcPct val="140011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199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6" name="Google Shape;106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17080850" y="8901598"/>
            <a:ext cx="1294200" cy="1385400"/>
          </a:xfrm>
          <a:prstGeom prst="rect">
            <a:avLst/>
          </a:prstGeom>
          <a:solidFill>
            <a:srgbClr val="61B4B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61B4B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highlight>
                  <a:srgbClr val="61B4BE"/>
                </a:highlight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3000">
              <a:highlight>
                <a:srgbClr val="61B4BE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345C"/>
            </a:gs>
            <a:gs pos="100000">
              <a:srgbClr val="284B70"/>
            </a:gs>
          </a:gsLst>
          <a:lin ang="0" scaled="0"/>
        </a:gra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3"/>
          <p:cNvGrpSpPr/>
          <p:nvPr/>
        </p:nvGrpSpPr>
        <p:grpSpPr>
          <a:xfrm rot="10800000">
            <a:off x="16074236" y="-37219"/>
            <a:ext cx="4185186" cy="10395563"/>
            <a:chOff x="0" y="-28575"/>
            <a:chExt cx="1102264" cy="2737908"/>
          </a:xfrm>
        </p:grpSpPr>
        <p:sp>
          <p:nvSpPr>
            <p:cNvPr id="113" name="Google Shape;113;p3"/>
            <p:cNvSpPr/>
            <p:nvPr/>
          </p:nvSpPr>
          <p:spPr>
            <a:xfrm>
              <a:off x="0" y="0"/>
              <a:ext cx="1102264" cy="2709333"/>
            </a:xfrm>
            <a:custGeom>
              <a:rect b="b" l="l" r="r" t="t"/>
              <a:pathLst>
                <a:path extrusionOk="0" h="2709333" w="1102264">
                  <a:moveTo>
                    <a:pt x="0" y="0"/>
                  </a:moveTo>
                  <a:lnTo>
                    <a:pt x="1102264" y="0"/>
                  </a:lnTo>
                  <a:lnTo>
                    <a:pt x="1102264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9BC8D3"/>
                </a:gs>
                <a:gs pos="100000">
                  <a:srgbClr val="61B4BE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3"/>
            <p:cNvSpPr txBox="1"/>
            <p:nvPr/>
          </p:nvSpPr>
          <p:spPr>
            <a:xfrm>
              <a:off x="0" y="-28575"/>
              <a:ext cx="1102264" cy="2737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3"/>
          <p:cNvSpPr/>
          <p:nvPr/>
        </p:nvSpPr>
        <p:spPr>
          <a:xfrm flipH="1">
            <a:off x="0" y="3017225"/>
            <a:ext cx="7269775" cy="7269775"/>
          </a:xfrm>
          <a:custGeom>
            <a:rect b="b" l="l" r="r" t="t"/>
            <a:pathLst>
              <a:path extrusionOk="0" h="7269775" w="7269775">
                <a:moveTo>
                  <a:pt x="7269775" y="0"/>
                </a:moveTo>
                <a:lnTo>
                  <a:pt x="0" y="0"/>
                </a:lnTo>
                <a:lnTo>
                  <a:pt x="0" y="7269775"/>
                </a:lnTo>
                <a:lnTo>
                  <a:pt x="7269775" y="7269775"/>
                </a:lnTo>
                <a:lnTo>
                  <a:pt x="7269775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" name="Google Shape;116;p3"/>
          <p:cNvGrpSpPr/>
          <p:nvPr/>
        </p:nvGrpSpPr>
        <p:grpSpPr>
          <a:xfrm rot="5400000">
            <a:off x="5627821" y="8866764"/>
            <a:ext cx="3283908" cy="3283908"/>
            <a:chOff x="0" y="0"/>
            <a:chExt cx="812800" cy="812800"/>
          </a:xfrm>
        </p:grpSpPr>
        <p:sp>
          <p:nvSpPr>
            <p:cNvPr id="117" name="Google Shape;117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9BC8D3"/>
                </a:gs>
                <a:gs pos="100000">
                  <a:srgbClr val="61B4BE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3"/>
          <p:cNvSpPr txBox="1"/>
          <p:nvPr/>
        </p:nvSpPr>
        <p:spPr>
          <a:xfrm>
            <a:off x="6533897" y="1107271"/>
            <a:ext cx="8188127" cy="1575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71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OBJECTIVES</a:t>
            </a:r>
            <a:endParaRPr/>
          </a:p>
          <a:p>
            <a:pPr indent="0" lvl="0" marL="0" marR="0" rtl="0" algn="l">
              <a:lnSpc>
                <a:spcPct val="85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67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2056833" y="2616589"/>
            <a:ext cx="13785992" cy="5087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Design and implement an ESP32-based multifunctional robot capable of: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Line following for accurate movement along predefined paths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Obstacle avoidance for smooth navigation without collisions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Fire detection and control (buzzer alarm)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Wi-Fi control for wireless smartphone-based operation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16993800" y="8866773"/>
            <a:ext cx="1294200" cy="1385400"/>
          </a:xfrm>
          <a:prstGeom prst="rect">
            <a:avLst/>
          </a:prstGeom>
          <a:solidFill>
            <a:srgbClr val="9BC8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9BC8D3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highlight>
                  <a:srgbClr val="9BC8D3"/>
                </a:highlight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3000">
              <a:highlight>
                <a:srgbClr val="9BC8D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345C"/>
            </a:gs>
            <a:gs pos="100000">
              <a:srgbClr val="284B70"/>
            </a:gs>
          </a:gsLst>
          <a:lin ang="0" scaled="0"/>
        </a:gra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 flipH="1">
            <a:off x="0" y="3017225"/>
            <a:ext cx="7269775" cy="7269775"/>
          </a:xfrm>
          <a:custGeom>
            <a:rect b="b" l="l" r="r" t="t"/>
            <a:pathLst>
              <a:path extrusionOk="0" h="7269775" w="7269775">
                <a:moveTo>
                  <a:pt x="7269775" y="0"/>
                </a:moveTo>
                <a:lnTo>
                  <a:pt x="0" y="0"/>
                </a:lnTo>
                <a:lnTo>
                  <a:pt x="0" y="7269775"/>
                </a:lnTo>
                <a:lnTo>
                  <a:pt x="7269775" y="7269775"/>
                </a:lnTo>
                <a:lnTo>
                  <a:pt x="7269775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249984" y="337185"/>
            <a:ext cx="18038016" cy="1487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PROPOSED SOLUTION / SYSTEM OVERVIEW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70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672750" y="1428750"/>
            <a:ext cx="16942500" cy="83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To design and implement the ESP-32 based multifunctional robot (Obstacle Avoidance, Line following, Fire Detect , WIFI- Control), the following steps will be followed:</a:t>
            </a:r>
            <a:endParaRPr sz="350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indent="-450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Lora"/>
              <a:buAutoNum type="arabicPeriod"/>
            </a:pPr>
            <a:r>
              <a:rPr lang="en-US" sz="35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Problem Identification – Need for a robot to detect obstacles,and fire.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2. Hardware Setup – ESP32 with sensors, motors, driver, buzzer, and power system.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3. Software Design – Programming ESP32 for obstacle avoidance,alarm.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4. Integration &amp; Testing – Connect all modules and test step by step.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5. Performance Evaluation – Check accuracy, speed, and response of the robot.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6. Documentation &amp; Presentation – Prepare report, diagrams, and demo.</a:t>
            </a:r>
            <a:endParaRPr/>
          </a:p>
          <a:p>
            <a:pPr indent="0" lvl="0" marL="0" marR="0" rtl="0" algn="ctr">
              <a:lnSpc>
                <a:spcPct val="75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lnSpc>
                <a:spcPct val="75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grpSp>
        <p:nvGrpSpPr>
          <p:cNvPr id="129" name="Google Shape;129;p4"/>
          <p:cNvGrpSpPr/>
          <p:nvPr/>
        </p:nvGrpSpPr>
        <p:grpSpPr>
          <a:xfrm>
            <a:off x="0" y="9149804"/>
            <a:ext cx="18288000" cy="1137196"/>
            <a:chOff x="0" y="-28575"/>
            <a:chExt cx="4816593" cy="299508"/>
          </a:xfrm>
        </p:grpSpPr>
        <p:sp>
          <p:nvSpPr>
            <p:cNvPr id="130" name="Google Shape;130;p4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61B4B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0" y="-28575"/>
              <a:ext cx="4816593" cy="2995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16993800" y="9265225"/>
            <a:ext cx="1294200" cy="953400"/>
          </a:xfrm>
          <a:prstGeom prst="rect">
            <a:avLst/>
          </a:prstGeom>
          <a:solidFill>
            <a:srgbClr val="61B4B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61B4B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highlight>
                  <a:srgbClr val="61B4BE"/>
                </a:highlight>
                <a:latin typeface="Calibri"/>
                <a:ea typeface="Calibri"/>
                <a:cs typeface="Calibri"/>
                <a:sym typeface="Calibri"/>
              </a:rPr>
              <a:t>4</a:t>
            </a:r>
            <a:endParaRPr b="1" sz="3000">
              <a:highlight>
                <a:srgbClr val="61B4BE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345C"/>
            </a:gs>
            <a:gs pos="100000">
              <a:srgbClr val="284B70"/>
            </a:gs>
          </a:gsLst>
          <a:lin ang="0" scaled="0"/>
        </a:gra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5"/>
          <p:cNvGrpSpPr/>
          <p:nvPr/>
        </p:nvGrpSpPr>
        <p:grpSpPr>
          <a:xfrm rot="10800000">
            <a:off x="16868138" y="-66"/>
            <a:ext cx="1419862" cy="10395563"/>
            <a:chOff x="0" y="-28575"/>
            <a:chExt cx="373953" cy="2737908"/>
          </a:xfrm>
        </p:grpSpPr>
        <p:sp>
          <p:nvSpPr>
            <p:cNvPr id="139" name="Google Shape;139;p5"/>
            <p:cNvSpPr/>
            <p:nvPr/>
          </p:nvSpPr>
          <p:spPr>
            <a:xfrm>
              <a:off x="0" y="0"/>
              <a:ext cx="373953" cy="2709333"/>
            </a:xfrm>
            <a:custGeom>
              <a:rect b="b" l="l" r="r" t="t"/>
              <a:pathLst>
                <a:path extrusionOk="0" h="2709333" w="373953">
                  <a:moveTo>
                    <a:pt x="0" y="0"/>
                  </a:moveTo>
                  <a:lnTo>
                    <a:pt x="373953" y="0"/>
                  </a:lnTo>
                  <a:lnTo>
                    <a:pt x="373953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9BC8D3"/>
                </a:gs>
                <a:gs pos="100000">
                  <a:srgbClr val="61B4BE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5"/>
            <p:cNvSpPr txBox="1"/>
            <p:nvPr/>
          </p:nvSpPr>
          <p:spPr>
            <a:xfrm>
              <a:off x="0" y="-28575"/>
              <a:ext cx="373953" cy="2737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5"/>
          <p:cNvSpPr txBox="1"/>
          <p:nvPr/>
        </p:nvSpPr>
        <p:spPr>
          <a:xfrm>
            <a:off x="3478647" y="304800"/>
            <a:ext cx="11004037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REQUIRED COMPONENTS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383258" y="1275438"/>
            <a:ext cx="17194800" cy="85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3525" lvl="1" marL="62705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4"/>
              <a:buFont typeface="Arial"/>
              <a:buChar char="•"/>
            </a:pPr>
            <a:r>
              <a:rPr b="1" i="0" lang="en-US" sz="2904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ESP32 Camera Module –</a:t>
            </a:r>
            <a:r>
              <a:rPr b="0" i="0" lang="en-US" sz="2904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2904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Primary microcontroller that hosts the Wi-Fi web server, streams real-time video for YOLOv11 AI obstacle avoidance, and handles high-level motor control.</a:t>
            </a:r>
            <a:endParaRPr sz="2904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indent="-313525" lvl="1" marL="62705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4"/>
              <a:buFont typeface="Lora"/>
              <a:buChar char="•"/>
            </a:pPr>
            <a:r>
              <a:rPr lang="en-US" sz="2904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Arduino UNO R3 -Secondary microcontroller responsible for processing real-time, low-level data from the IR and flame sensors, and triggering the emergency alarm system.</a:t>
            </a:r>
            <a:endParaRPr sz="2904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indent="-313525" lvl="1" marL="62705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4"/>
              <a:buFont typeface="Arial"/>
              <a:buChar char="•"/>
            </a:pPr>
            <a:r>
              <a:rPr b="1" i="0" lang="en-US" sz="2904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L298N Motor Driver Shield – </a:t>
            </a:r>
            <a:r>
              <a:rPr b="0" i="0" lang="en-US" sz="2904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Drives the DC motors to control wheel movement and direction.</a:t>
            </a:r>
            <a:endParaRPr/>
          </a:p>
          <a:p>
            <a:pPr indent="-313525" lvl="1" marL="62705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4"/>
              <a:buFont typeface="Arial"/>
              <a:buChar char="•"/>
            </a:pPr>
            <a:r>
              <a:rPr b="1" i="0" lang="en-US" sz="2904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Robotic Chassis 4 Wheel –</a:t>
            </a:r>
            <a:r>
              <a:rPr b="0" i="0" lang="en-US" sz="2904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Provides the physical frame and mobility platform for all components.</a:t>
            </a:r>
            <a:endParaRPr/>
          </a:p>
          <a:p>
            <a:pPr indent="-313525" lvl="1" marL="62705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4"/>
              <a:buFont typeface="Arial"/>
              <a:buChar char="•"/>
            </a:pPr>
            <a:r>
              <a:rPr b="1" i="0" lang="en-US" sz="2904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Flame Sensor Module for Fire Detection – </a:t>
            </a:r>
            <a:r>
              <a:rPr b="0" i="0" lang="en-US" sz="2904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Senses infrared light from flames to detect fire presence.</a:t>
            </a:r>
            <a:endParaRPr/>
          </a:p>
          <a:p>
            <a:pPr indent="-313525" lvl="1" marL="62705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4"/>
              <a:buFont typeface="Arial"/>
              <a:buChar char="•"/>
            </a:pPr>
            <a:r>
              <a:rPr b="1" i="0" lang="en-US" sz="2904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Li-ion Battery –</a:t>
            </a:r>
            <a:r>
              <a:rPr b="0" i="0" lang="en-US" sz="2904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Rechargeable power source for portable robot operation.</a:t>
            </a:r>
            <a:endParaRPr/>
          </a:p>
          <a:p>
            <a:pPr indent="-313525" lvl="1" marL="62705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4"/>
              <a:buFont typeface="Arial"/>
              <a:buChar char="•"/>
            </a:pPr>
            <a:r>
              <a:rPr b="1" i="0" lang="en-US" sz="2904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18650 Battery Holder –</a:t>
            </a:r>
            <a:r>
              <a:rPr b="0" i="0" lang="en-US" sz="2904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Securely holds Li-ion batteries and provides electrical connections.</a:t>
            </a:r>
            <a:endParaRPr/>
          </a:p>
          <a:p>
            <a:pPr indent="-313525" lvl="1" marL="62705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4"/>
              <a:buFont typeface="Arial"/>
              <a:buChar char="•"/>
            </a:pPr>
            <a:r>
              <a:rPr b="1" i="0" lang="en-US" sz="2904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Jumper Wires, Switch –</a:t>
            </a:r>
            <a:r>
              <a:rPr b="0" i="0" lang="en-US" sz="2904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Connects components on the circuit and turns the robot on/off.</a:t>
            </a:r>
            <a:endParaRPr/>
          </a:p>
          <a:p>
            <a:pPr indent="-313525" lvl="1" marL="62705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4"/>
              <a:buFont typeface="Arial"/>
              <a:buChar char="•"/>
            </a:pPr>
            <a:r>
              <a:rPr b="1" i="0" lang="en-US" sz="2904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IR sensor - </a:t>
            </a:r>
            <a:r>
              <a:rPr b="0" i="0" lang="en-US" sz="2904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used for line following by detecting black or white surfaces.</a:t>
            </a:r>
            <a:endParaRPr/>
          </a:p>
          <a:p>
            <a:pPr indent="-313525" lvl="1" marL="62705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4"/>
              <a:buFont typeface="Arial"/>
              <a:buChar char="•"/>
            </a:pPr>
            <a:r>
              <a:rPr b="1" i="0" lang="en-US" sz="2904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Buzzer –</a:t>
            </a:r>
            <a:r>
              <a:rPr b="0" i="0" lang="en-US" sz="2904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Emits audible alarm sound when gas leakage or fire is detected.</a:t>
            </a:r>
            <a:endParaRPr/>
          </a:p>
        </p:txBody>
      </p:sp>
      <p:sp>
        <p:nvSpPr>
          <p:cNvPr id="143" name="Google Shape;143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16868150" y="8901598"/>
            <a:ext cx="1294200" cy="1385400"/>
          </a:xfrm>
          <a:prstGeom prst="rect">
            <a:avLst/>
          </a:prstGeom>
          <a:solidFill>
            <a:srgbClr val="9BC8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9BC8D3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highlight>
                  <a:srgbClr val="9BC8D3"/>
                </a:highlight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3000">
              <a:highlight>
                <a:srgbClr val="9BC8D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345C"/>
            </a:gs>
            <a:gs pos="100000">
              <a:srgbClr val="284B70"/>
            </a:gs>
          </a:gsLst>
          <a:lin ang="0" scaled="0"/>
        </a:gra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/>
          <p:nvPr/>
        </p:nvSpPr>
        <p:spPr>
          <a:xfrm>
            <a:off x="1226573" y="8"/>
            <a:ext cx="138537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99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BLOCK DIAGRAM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50" name="Google Shape;15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3250"/>
            <a:ext cx="18288001" cy="896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16993800" y="8901598"/>
            <a:ext cx="1294200" cy="1385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61B4B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3000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345C"/>
            </a:gs>
            <a:gs pos="100000">
              <a:srgbClr val="284B70"/>
            </a:gs>
          </a:gsLst>
          <a:lin ang="0" scaled="0"/>
        </a:gra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 txBox="1"/>
          <p:nvPr/>
        </p:nvSpPr>
        <p:spPr>
          <a:xfrm>
            <a:off x="1360251" y="666433"/>
            <a:ext cx="9461520" cy="8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WORKING METHOD</a:t>
            </a:r>
            <a:endParaRPr/>
          </a:p>
        </p:txBody>
      </p:sp>
      <p:sp>
        <p:nvSpPr>
          <p:cNvPr id="158" name="Google Shape;158;p7"/>
          <p:cNvSpPr txBox="1"/>
          <p:nvPr/>
        </p:nvSpPr>
        <p:spPr>
          <a:xfrm>
            <a:off x="224242" y="2056036"/>
            <a:ext cx="17839516" cy="6402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26" lvl="1" marL="734051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9"/>
              <a:buFont typeface="Arial"/>
              <a:buChar char="•"/>
            </a:pPr>
            <a:r>
              <a:rPr b="1" i="0" lang="en-US" sz="3399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Power ON –</a:t>
            </a:r>
            <a:r>
              <a:rPr b="0" i="0" lang="en-US" sz="3399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System initializes all sensors and modules.</a:t>
            </a:r>
            <a:endParaRPr/>
          </a:p>
          <a:p>
            <a:pPr indent="-367026" lvl="1" marL="734051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9"/>
              <a:buFont typeface="Arial"/>
              <a:buChar char="•"/>
            </a:pPr>
            <a:r>
              <a:rPr b="1" i="0" lang="en-US" sz="3399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Mode Selection – </a:t>
            </a:r>
            <a:r>
              <a:rPr b="0" i="0" lang="en-US" sz="3399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Autonomous mode (line following + obstacle avoidance + Fire detection) or Manual mode (Wi-Fi control).</a:t>
            </a:r>
            <a:endParaRPr/>
          </a:p>
          <a:p>
            <a:pPr indent="-367026" lvl="1" marL="734051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9"/>
              <a:buFont typeface="Arial"/>
              <a:buChar char="•"/>
            </a:pPr>
            <a:r>
              <a:rPr b="1" i="0" lang="en-US" sz="3399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Continuous Sensing –</a:t>
            </a:r>
            <a:r>
              <a:rPr b="0" i="0" lang="en-US" sz="3399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flame, and obstacle sensors(ESP32 CAM) constantly monitor the environment.</a:t>
            </a:r>
            <a:endParaRPr/>
          </a:p>
          <a:p>
            <a:pPr indent="-367026" lvl="1" marL="734051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9"/>
              <a:buFont typeface="Arial"/>
              <a:buChar char="•"/>
            </a:pPr>
            <a:r>
              <a:rPr b="1" i="0" lang="en-US" sz="3399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Decision Making –</a:t>
            </a:r>
            <a:endParaRPr/>
          </a:p>
          <a:p>
            <a:pPr indent="-460582" lvl="2" marL="1381745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9"/>
              <a:buFont typeface="Lora"/>
              <a:buAutoNum type="alphaLcPeriod"/>
            </a:pPr>
            <a:r>
              <a:rPr b="0" i="0" lang="en-US" sz="3199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If obstacle detected → change path</a:t>
            </a:r>
            <a:endParaRPr/>
          </a:p>
          <a:p>
            <a:pPr indent="-460582" lvl="2" marL="1381745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9"/>
              <a:buFont typeface="Lora"/>
              <a:buAutoNum type="alphaLcPeriod"/>
            </a:pPr>
            <a:r>
              <a:rPr b="0" i="0" lang="en-US" sz="3199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If fire detected → activate buzzer</a:t>
            </a:r>
            <a:endParaRPr/>
          </a:p>
          <a:p>
            <a:pPr indent="-367026" lvl="1" marL="734051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9"/>
              <a:buFont typeface="Arial"/>
              <a:buChar char="•"/>
            </a:pPr>
            <a:r>
              <a:rPr b="1" i="0" lang="en-US" sz="3399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Navigation –</a:t>
            </a:r>
            <a:r>
              <a:rPr b="0" i="0" lang="en-US" sz="3399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Line following IR sensors guide movement</a:t>
            </a:r>
            <a:endParaRPr/>
          </a:p>
          <a:p>
            <a:pPr indent="-367026" lvl="1" marL="734051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9"/>
              <a:buFont typeface="Arial"/>
              <a:buChar char="•"/>
            </a:pPr>
            <a:r>
              <a:rPr b="1" i="0" lang="en-US" sz="3399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User Control – </a:t>
            </a:r>
            <a:r>
              <a:rPr b="0" i="0" lang="en-US" sz="3399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smartphone app override autonomous mode.</a:t>
            </a:r>
            <a:endParaRPr/>
          </a:p>
          <a:p>
            <a:pPr indent="0" lvl="0" marL="0" marR="0" rtl="0" algn="l">
              <a:lnSpc>
                <a:spcPct val="659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99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9" name="Google Shape;159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16993800" y="8720123"/>
            <a:ext cx="1294200" cy="1385400"/>
          </a:xfrm>
          <a:prstGeom prst="rect">
            <a:avLst/>
          </a:prstGeom>
          <a:solidFill>
            <a:srgbClr val="0434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2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highlight>
                  <a:srgbClr val="04345C"/>
                </a:highlight>
                <a:latin typeface="Calibri"/>
                <a:ea typeface="Calibri"/>
                <a:cs typeface="Calibri"/>
                <a:sym typeface="Calibri"/>
              </a:rPr>
              <a:t>7</a:t>
            </a:r>
            <a:endParaRPr b="1" sz="3000">
              <a:solidFill>
                <a:schemeClr val="lt1"/>
              </a:solidFill>
              <a:highlight>
                <a:srgbClr val="04345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345C"/>
            </a:gs>
            <a:gs pos="100000">
              <a:srgbClr val="284B70"/>
            </a:gs>
          </a:gsLst>
          <a:lin ang="0" scaled="0"/>
        </a:gra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 txBox="1"/>
          <p:nvPr/>
        </p:nvSpPr>
        <p:spPr>
          <a:xfrm>
            <a:off x="1217130" y="748520"/>
            <a:ext cx="16299862" cy="2009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EXPECTED OUTPUT / APPLICATIONS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1217130" y="1596263"/>
            <a:ext cx="14079438" cy="6353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Expected Output:</a:t>
            </a:r>
            <a:endParaRPr/>
          </a:p>
          <a:p>
            <a:pPr indent="-345436" lvl="1" marL="690872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Early detection of fire with audible alerts</a:t>
            </a:r>
            <a:endParaRPr/>
          </a:p>
          <a:p>
            <a:pPr indent="-367026" lvl="1" marL="734051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Autonomous navigation with obstacle avoidance and line following</a:t>
            </a:r>
            <a:endParaRPr/>
          </a:p>
          <a:p>
            <a:pPr indent="-345436" lvl="1" marL="690872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Remote controlled operation</a:t>
            </a:r>
            <a:endParaRPr/>
          </a:p>
          <a:p>
            <a:pPr indent="-142299" lvl="1" marL="690872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99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Applications:</a:t>
            </a:r>
            <a:endParaRPr/>
          </a:p>
          <a:p>
            <a:pPr indent="-345436" lvl="1" marL="690872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Assisting firefighters by providing initial fire control</a:t>
            </a:r>
            <a:endParaRPr/>
          </a:p>
          <a:p>
            <a:pPr indent="-345436" lvl="1" marL="690872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Smart city and IoT-based safety systems</a:t>
            </a:r>
            <a:endParaRPr/>
          </a:p>
          <a:p>
            <a:pPr indent="-345436" lvl="1" marL="690872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Surveillance and assistive robotics</a:t>
            </a:r>
            <a:endParaRPr/>
          </a:p>
          <a:p>
            <a:pPr indent="0" lvl="0" marL="0" marR="0" rtl="0" algn="ctr">
              <a:lnSpc>
                <a:spcPct val="962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99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7" name="Google Shape;167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16993800" y="8901598"/>
            <a:ext cx="1294200" cy="1385400"/>
          </a:xfrm>
          <a:prstGeom prst="rect">
            <a:avLst/>
          </a:prstGeom>
          <a:solidFill>
            <a:srgbClr val="0434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rgbClr val="04345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highlight>
                  <a:srgbClr val="04345C"/>
                </a:highlight>
                <a:latin typeface="Calibri"/>
                <a:ea typeface="Calibri"/>
                <a:cs typeface="Calibri"/>
                <a:sym typeface="Calibri"/>
              </a:rPr>
              <a:t>8</a:t>
            </a:r>
            <a:endParaRPr b="1" sz="3000">
              <a:solidFill>
                <a:schemeClr val="lt1"/>
              </a:solidFill>
              <a:highlight>
                <a:srgbClr val="04345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345C"/>
            </a:gs>
            <a:gs pos="100000">
              <a:srgbClr val="284B70"/>
            </a:gs>
          </a:gsLst>
          <a:lin ang="0" scaled="0"/>
        </a:gra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9"/>
          <p:cNvGrpSpPr/>
          <p:nvPr/>
        </p:nvGrpSpPr>
        <p:grpSpPr>
          <a:xfrm rot="10800000">
            <a:off x="17687951" y="0"/>
            <a:ext cx="1200099" cy="10395496"/>
            <a:chOff x="0" y="-28575"/>
            <a:chExt cx="316075" cy="2737908"/>
          </a:xfrm>
        </p:grpSpPr>
        <p:sp>
          <p:nvSpPr>
            <p:cNvPr id="174" name="Google Shape;174;p9"/>
            <p:cNvSpPr/>
            <p:nvPr/>
          </p:nvSpPr>
          <p:spPr>
            <a:xfrm>
              <a:off x="0" y="0"/>
              <a:ext cx="316075" cy="2709333"/>
            </a:xfrm>
            <a:custGeom>
              <a:rect b="b" l="l" r="r" t="t"/>
              <a:pathLst>
                <a:path extrusionOk="0" h="2709333" w="316075">
                  <a:moveTo>
                    <a:pt x="0" y="0"/>
                  </a:moveTo>
                  <a:lnTo>
                    <a:pt x="316075" y="0"/>
                  </a:lnTo>
                  <a:lnTo>
                    <a:pt x="316075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9BC8D3"/>
                </a:gs>
                <a:gs pos="100000">
                  <a:srgbClr val="61B4BE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9"/>
            <p:cNvSpPr txBox="1"/>
            <p:nvPr/>
          </p:nvSpPr>
          <p:spPr>
            <a:xfrm>
              <a:off x="0" y="-28575"/>
              <a:ext cx="316075" cy="2737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9"/>
          <p:cNvSpPr txBox="1"/>
          <p:nvPr/>
        </p:nvSpPr>
        <p:spPr>
          <a:xfrm>
            <a:off x="6702938" y="666433"/>
            <a:ext cx="6432756" cy="8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CONCLUSION</a:t>
            </a:r>
            <a:endParaRPr/>
          </a:p>
        </p:txBody>
      </p:sp>
      <p:sp>
        <p:nvSpPr>
          <p:cNvPr id="177" name="Google Shape;177;p9"/>
          <p:cNvSpPr txBox="1"/>
          <p:nvPr/>
        </p:nvSpPr>
        <p:spPr>
          <a:xfrm>
            <a:off x="308333" y="2280917"/>
            <a:ext cx="17379600" cy="6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ESP-32 based Multifunctional fireguard Bot integrates multiple features in one system: obstacle avoidance, line following, fire detection, and WiFi control.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WIFI control enable flexible and convenient human-robot interaction.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Environmental sensing (fire) enhances monitoring and safety.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system has practical applications in home automation, industrial monitoring, surveillance, and assistive robotics.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Demonstrates the potential and adaptability of ESP-32 powered robotics for real-world tasks.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99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8" name="Google Shape;178;p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16993800" y="8901598"/>
            <a:ext cx="1294200" cy="13854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61B4B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highlight>
                  <a:srgbClr val="9BC8D3"/>
                </a:highlight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3000">
              <a:highlight>
                <a:srgbClr val="9BC8D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345C"/>
            </a:gs>
            <a:gs pos="100000">
              <a:srgbClr val="284B70"/>
            </a:gs>
          </a:gsLst>
          <a:lin ang="0" scaled="0"/>
        </a:gra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/>
          <p:nvPr/>
        </p:nvSpPr>
        <p:spPr>
          <a:xfrm flipH="1">
            <a:off x="0" y="3017225"/>
            <a:ext cx="7269775" cy="7269775"/>
          </a:xfrm>
          <a:custGeom>
            <a:rect b="b" l="l" r="r" t="t"/>
            <a:pathLst>
              <a:path extrusionOk="0" h="7269775" w="7269775">
                <a:moveTo>
                  <a:pt x="7269775" y="0"/>
                </a:moveTo>
                <a:lnTo>
                  <a:pt x="0" y="0"/>
                </a:lnTo>
                <a:lnTo>
                  <a:pt x="0" y="7269775"/>
                </a:lnTo>
                <a:lnTo>
                  <a:pt x="7269775" y="7269775"/>
                </a:lnTo>
                <a:lnTo>
                  <a:pt x="7269775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11018225" y="3217029"/>
            <a:ext cx="7269775" cy="7269775"/>
          </a:xfrm>
          <a:custGeom>
            <a:rect b="b" l="l" r="r" t="t"/>
            <a:pathLst>
              <a:path extrusionOk="0" h="7269775" w="7269775">
                <a:moveTo>
                  <a:pt x="0" y="0"/>
                </a:moveTo>
                <a:lnTo>
                  <a:pt x="7269775" y="0"/>
                </a:lnTo>
                <a:lnTo>
                  <a:pt x="7269775" y="7269775"/>
                </a:lnTo>
                <a:lnTo>
                  <a:pt x="0" y="726977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" name="Google Shape;186;p10"/>
          <p:cNvGrpSpPr/>
          <p:nvPr/>
        </p:nvGrpSpPr>
        <p:grpSpPr>
          <a:xfrm rot="10800000">
            <a:off x="1211799" y="3902710"/>
            <a:ext cx="15864401" cy="4590362"/>
            <a:chOff x="0" y="-28575"/>
            <a:chExt cx="4178279" cy="1208984"/>
          </a:xfrm>
        </p:grpSpPr>
        <p:sp>
          <p:nvSpPr>
            <p:cNvPr id="187" name="Google Shape;187;p10"/>
            <p:cNvSpPr/>
            <p:nvPr/>
          </p:nvSpPr>
          <p:spPr>
            <a:xfrm>
              <a:off x="0" y="0"/>
              <a:ext cx="4178279" cy="1180409"/>
            </a:xfrm>
            <a:custGeom>
              <a:rect b="b" l="l" r="r" t="t"/>
              <a:pathLst>
                <a:path extrusionOk="0" h="1180409" w="4178279">
                  <a:moveTo>
                    <a:pt x="0" y="0"/>
                  </a:moveTo>
                  <a:lnTo>
                    <a:pt x="4178279" y="0"/>
                  </a:lnTo>
                  <a:lnTo>
                    <a:pt x="4178279" y="1180409"/>
                  </a:lnTo>
                  <a:lnTo>
                    <a:pt x="0" y="1180409"/>
                  </a:lnTo>
                  <a:close/>
                </a:path>
              </a:pathLst>
            </a:custGeom>
            <a:gradFill>
              <a:gsLst>
                <a:gs pos="0">
                  <a:srgbClr val="9BC8D3"/>
                </a:gs>
                <a:gs pos="100000">
                  <a:srgbClr val="61B4BE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0"/>
            <p:cNvSpPr txBox="1"/>
            <p:nvPr/>
          </p:nvSpPr>
          <p:spPr>
            <a:xfrm>
              <a:off x="0" y="-28575"/>
              <a:ext cx="4178279" cy="12089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10"/>
          <p:cNvGrpSpPr/>
          <p:nvPr/>
        </p:nvGrpSpPr>
        <p:grpSpPr>
          <a:xfrm>
            <a:off x="0" y="8142730"/>
            <a:ext cx="18288000" cy="2144270"/>
            <a:chOff x="0" y="-28575"/>
            <a:chExt cx="4816593" cy="564746"/>
          </a:xfrm>
        </p:grpSpPr>
        <p:sp>
          <p:nvSpPr>
            <p:cNvPr id="190" name="Google Shape;190;p10"/>
            <p:cNvSpPr/>
            <p:nvPr/>
          </p:nvSpPr>
          <p:spPr>
            <a:xfrm>
              <a:off x="0" y="0"/>
              <a:ext cx="4816592" cy="536171"/>
            </a:xfrm>
            <a:custGeom>
              <a:rect b="b" l="l" r="r" t="t"/>
              <a:pathLst>
                <a:path extrusionOk="0" h="5361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36171"/>
                  </a:lnTo>
                  <a:lnTo>
                    <a:pt x="0" y="536171"/>
                  </a:lnTo>
                  <a:close/>
                </a:path>
              </a:pathLst>
            </a:custGeom>
            <a:solidFill>
              <a:srgbClr val="61B4B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0"/>
            <p:cNvSpPr txBox="1"/>
            <p:nvPr/>
          </p:nvSpPr>
          <p:spPr>
            <a:xfrm>
              <a:off x="0" y="-28575"/>
              <a:ext cx="4816593" cy="5647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2" name="Google Shape;192;p10"/>
          <p:cNvSpPr txBox="1"/>
          <p:nvPr/>
        </p:nvSpPr>
        <p:spPr>
          <a:xfrm>
            <a:off x="5255861" y="3731260"/>
            <a:ext cx="8218431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2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THANK YOU</a:t>
            </a:r>
            <a:endParaRPr/>
          </a:p>
        </p:txBody>
      </p:sp>
      <p:sp>
        <p:nvSpPr>
          <p:cNvPr id="193" name="Google Shape;193;p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16993800" y="8901598"/>
            <a:ext cx="1294200" cy="1385400"/>
          </a:xfrm>
          <a:prstGeom prst="rect">
            <a:avLst/>
          </a:prstGeom>
          <a:solidFill>
            <a:srgbClr val="61B4B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61B4B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highlight>
                  <a:srgbClr val="61B4BE"/>
                </a:highlight>
                <a:latin typeface="Calibri"/>
                <a:ea typeface="Calibri"/>
                <a:cs typeface="Calibri"/>
                <a:sym typeface="Calibri"/>
              </a:rPr>
              <a:t>10</a:t>
            </a:r>
            <a:endParaRPr b="1" sz="3000">
              <a:highlight>
                <a:srgbClr val="61B4BE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Osman Goni</dc:creator>
</cp:coreProperties>
</file>